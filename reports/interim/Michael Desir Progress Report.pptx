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70" r:id="rId5"/>
    <p:sldId id="267" r:id="rId6"/>
    <p:sldId id="266" r:id="rId7"/>
    <p:sldId id="268" r:id="rId8"/>
    <p:sldId id="269" r:id="rId9"/>
  </p:sldIdLst>
  <p:sldSz cx="14630400" cy="8229600"/>
  <p:notesSz cx="8229600" cy="14630400"/>
  <p:embeddedFontLst>
    <p:embeddedFont>
      <p:font typeface="Inter" panose="020005030000000200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A5C"/>
    <a:srgbClr val="DADBF1"/>
    <a:srgbClr val="9899A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>
        <p:scale>
          <a:sx n="66" d="100"/>
          <a:sy n="66" d="100"/>
        </p:scale>
        <p:origin x="1856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343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2183-F781-2F82-5720-0E825295E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26542-69F1-92E9-2F49-A439105EF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55FF6F-C4D7-AD52-6995-45E21DB08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548D9-0C3E-8070-6861-817BD6C1F4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4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5211"/>
            <a:ext cx="13042821" cy="228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Capstone Project Progress Report</a:t>
            </a:r>
          </a:p>
          <a:p>
            <a:pPr marL="0" indent="0" algn="l">
              <a:lnSpc>
                <a:spcPts val="5550"/>
              </a:lnSpc>
              <a:buNone/>
            </a:pPr>
            <a:endParaRPr lang="en-US" sz="200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Michael Desir</a:t>
            </a:r>
            <a:endParaRPr lang="en-US" sz="20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A869D8-E8CC-2CA9-FB3E-5A7A8002A5EC}"/>
              </a:ext>
            </a:extLst>
          </p:cNvPr>
          <p:cNvSpPr/>
          <p:nvPr/>
        </p:nvSpPr>
        <p:spPr>
          <a:xfrm>
            <a:off x="12726649" y="7659974"/>
            <a:ext cx="1903751" cy="5696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C5336C-4A03-1A7F-C74A-305B29A55282}"/>
              </a:ext>
            </a:extLst>
          </p:cNvPr>
          <p:cNvSpPr/>
          <p:nvPr/>
        </p:nvSpPr>
        <p:spPr>
          <a:xfrm>
            <a:off x="10056429" y="4112089"/>
            <a:ext cx="3832698" cy="3832698"/>
          </a:xfrm>
          <a:prstGeom prst="ellipse">
            <a:avLst/>
          </a:prstGeom>
          <a:solidFill>
            <a:srgbClr val="DADB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9196B5-F0A5-7398-749A-6F50C96D8166}"/>
              </a:ext>
            </a:extLst>
          </p:cNvPr>
          <p:cNvSpPr/>
          <p:nvPr/>
        </p:nvSpPr>
        <p:spPr>
          <a:xfrm>
            <a:off x="8966931" y="3560323"/>
            <a:ext cx="2178996" cy="2178996"/>
          </a:xfrm>
          <a:prstGeom prst="ellipse">
            <a:avLst/>
          </a:prstGeom>
          <a:solidFill>
            <a:srgbClr val="1A3A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9239" y="852537"/>
            <a:ext cx="1638125" cy="1229179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3790" y="115550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1400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721179"/>
            <a:ext cx="69244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 – Use of Force Details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the Montgomery County Police Department. Refreshed daily, this dataset captures every instance of force used by officers on subjects and vice versa for a granular, real-time record of use-of-force events.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99603"/>
            <a:ext cx="28438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Supporting Datasets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980748"/>
            <a:ext cx="6924437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MCPD Crime Dataset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extra information about the associated crime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Police Dispatched Incidents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dispatch provides location data, plus the number of officers involved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115895" y="2913221"/>
            <a:ext cx="5891570" cy="4677728"/>
          </a:xfrm>
          <a:prstGeom prst="roundRect">
            <a:avLst>
              <a:gd name="adj" fmla="val 3491"/>
            </a:avLst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42709" y="31400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Coverage Period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42709" y="3721179"/>
            <a:ext cx="54379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 through March 2026: four years of longitudinal incident data enabling trend analysis across time, district, and demographics.</a:t>
            </a:r>
            <a:endParaRPr lang="en-US" sz="175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4F4DEB4-E06E-8855-DC7C-CB5CF635121F}"/>
              </a:ext>
            </a:extLst>
          </p:cNvPr>
          <p:cNvSpPr/>
          <p:nvPr/>
        </p:nvSpPr>
        <p:spPr>
          <a:xfrm>
            <a:off x="12726649" y="7659974"/>
            <a:ext cx="1903751" cy="5696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81864"/>
            <a:ext cx="1894999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9878" y="1649849"/>
            <a:ext cx="16228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GOALS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98834"/>
            <a:ext cx="127102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 Core Questions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147774"/>
            <a:ext cx="4196358" cy="349996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4270" y="3178254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21888" y="330196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051084" y="4085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Race &amp; Use of Force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4575929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racial groups disproportionately represented in force incidents? How does force type and officer count vary by subject race?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0156663" y="3147774"/>
            <a:ext cx="4196358" cy="349996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13957" y="4085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Beyond Race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413957" y="45759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other factors — mental illness, substance use, geography — shape the type and severity of force used?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5475226" y="3147773"/>
            <a:ext cx="4196358" cy="349996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2E51916C-8B96-B322-AE02-6CB68AC82580}"/>
              </a:ext>
            </a:extLst>
          </p:cNvPr>
          <p:cNvSpPr/>
          <p:nvPr/>
        </p:nvSpPr>
        <p:spPr>
          <a:xfrm>
            <a:off x="5531971" y="316587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60436" y="330196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2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5889631" y="4085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Trends Over Time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89631" y="457592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have use-of-force incidents evolved from 2022 to 2026, both countywide and by police district?</a:t>
            </a:r>
            <a:endParaRPr lang="en-US" sz="175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DDC34DC-7389-273C-456B-41FC54F77664}"/>
              </a:ext>
            </a:extLst>
          </p:cNvPr>
          <p:cNvSpPr/>
          <p:nvPr/>
        </p:nvSpPr>
        <p:spPr>
          <a:xfrm>
            <a:off x="12726649" y="7659974"/>
            <a:ext cx="1903751" cy="5696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BA46C276-C29F-9AEA-97C0-6B87B30A68BB}"/>
              </a:ext>
            </a:extLst>
          </p:cNvPr>
          <p:cNvSpPr/>
          <p:nvPr/>
        </p:nvSpPr>
        <p:spPr>
          <a:xfrm>
            <a:off x="10187143" y="318141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84761" y="330196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3</a:t>
            </a:r>
            <a:endParaRPr lang="en-US" sz="2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19D62F-32CB-9332-7898-4E4587930BCC}"/>
              </a:ext>
            </a:extLst>
          </p:cNvPr>
          <p:cNvSpPr/>
          <p:nvPr/>
        </p:nvSpPr>
        <p:spPr>
          <a:xfrm>
            <a:off x="12726649" y="7659974"/>
            <a:ext cx="1903751" cy="5696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OData color icon in PNG, SVG">
            <a:extLst>
              <a:ext uri="{FF2B5EF4-FFF2-40B4-BE49-F238E27FC236}">
                <a16:creationId xmlns:a16="http://schemas.microsoft.com/office/drawing/2014/main" id="{E0862B5E-12AD-C15C-E571-6241B533D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50" y="20671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king the Chore Out of ETL Pipeline Setup">
            <a:extLst>
              <a:ext uri="{FF2B5EF4-FFF2-40B4-BE49-F238E27FC236}">
                <a16:creationId xmlns:a16="http://schemas.microsoft.com/office/drawing/2014/main" id="{859EE74D-4B43-D7BA-4769-FFB1723B6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58" y="289427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erverless Postgres database ...">
            <a:extLst>
              <a:ext uri="{FF2B5EF4-FFF2-40B4-BE49-F238E27FC236}">
                <a16:creationId xmlns:a16="http://schemas.microsoft.com/office/drawing/2014/main" id="{70BDE732-24EF-9B40-1620-1439B10A6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06" y="5767869"/>
            <a:ext cx="2197235" cy="219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ableau Logo, symbol, meaning, history ...">
            <a:extLst>
              <a:ext uri="{FF2B5EF4-FFF2-40B4-BE49-F238E27FC236}">
                <a16:creationId xmlns:a16="http://schemas.microsoft.com/office/drawing/2014/main" id="{C15C0124-0C41-B0A3-96A8-89A8A2BA2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579" y="5767869"/>
            <a:ext cx="3321609" cy="186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B5D08E63-953C-1EED-5C41-75DB30B1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3737" y="3025302"/>
            <a:ext cx="2245291" cy="224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8A4B6C-EE4D-EB72-F125-0BEE73A6DB0E}"/>
              </a:ext>
            </a:extLst>
          </p:cNvPr>
          <p:cNvCxnSpPr>
            <a:cxnSpLocks/>
            <a:stCxn id="1032" idx="3"/>
            <a:endCxn id="1040" idx="1"/>
          </p:cNvCxnSpPr>
          <p:nvPr/>
        </p:nvCxnSpPr>
        <p:spPr>
          <a:xfrm flipV="1">
            <a:off x="2731841" y="4147948"/>
            <a:ext cx="8211896" cy="27185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8151FF-D2B4-D51B-F4C6-BC8B6DEEF85C}"/>
              </a:ext>
            </a:extLst>
          </p:cNvPr>
          <p:cNvCxnSpPr>
            <a:cxnSpLocks/>
            <a:stCxn id="1032" idx="3"/>
          </p:cNvCxnSpPr>
          <p:nvPr/>
        </p:nvCxnSpPr>
        <p:spPr>
          <a:xfrm flipV="1">
            <a:off x="2731841" y="6697919"/>
            <a:ext cx="8211896" cy="1685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5252F0-22F1-3EA5-CC76-0B38DCAF2693}"/>
              </a:ext>
            </a:extLst>
          </p:cNvPr>
          <p:cNvCxnSpPr/>
          <p:nvPr/>
        </p:nvCxnSpPr>
        <p:spPr>
          <a:xfrm>
            <a:off x="1640108" y="2470826"/>
            <a:ext cx="0" cy="11089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1F5A26B-8174-1AD6-C38C-999DC2D7AB62}"/>
              </a:ext>
            </a:extLst>
          </p:cNvPr>
          <p:cNvCxnSpPr>
            <a:cxnSpLocks/>
            <a:endCxn id="1028" idx="2"/>
          </p:cNvCxnSpPr>
          <p:nvPr/>
        </p:nvCxnSpPr>
        <p:spPr>
          <a:xfrm>
            <a:off x="1633223" y="5019472"/>
            <a:ext cx="6885" cy="7322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8" descr="Github Logo - Free social media icons">
            <a:extLst>
              <a:ext uri="{FF2B5EF4-FFF2-40B4-BE49-F238E27FC236}">
                <a16:creationId xmlns:a16="http://schemas.microsoft.com/office/drawing/2014/main" id="{F9B832A6-D641-49D1-5BA3-EE0715440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3737" y="435919"/>
            <a:ext cx="2027004" cy="2027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02FEEC-54AF-62A2-FBCA-E764DBB231E1}"/>
              </a:ext>
            </a:extLst>
          </p:cNvPr>
          <p:cNvCxnSpPr>
            <a:stCxn id="1032" idx="3"/>
            <a:endCxn id="1042" idx="1"/>
          </p:cNvCxnSpPr>
          <p:nvPr/>
        </p:nvCxnSpPr>
        <p:spPr>
          <a:xfrm flipV="1">
            <a:off x="2731841" y="1449421"/>
            <a:ext cx="8211896" cy="54170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884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BD593-F0AF-0B53-FD8C-F72FE26A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C49E3CB-1568-5D24-3FDB-2DC42506E63F}"/>
              </a:ext>
            </a:extLst>
          </p:cNvPr>
          <p:cNvSpPr/>
          <p:nvPr/>
        </p:nvSpPr>
        <p:spPr>
          <a:xfrm>
            <a:off x="12726649" y="7659974"/>
            <a:ext cx="1903751" cy="5696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AA81E2-F3EF-24FD-6994-2DCFF9252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65" y="1215137"/>
            <a:ext cx="14497835" cy="534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10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2EC9FB7-CF5B-14D6-7133-FEACD6563EF7}"/>
              </a:ext>
            </a:extLst>
          </p:cNvPr>
          <p:cNvSpPr/>
          <p:nvPr/>
        </p:nvSpPr>
        <p:spPr>
          <a:xfrm>
            <a:off x="12726649" y="7659974"/>
            <a:ext cx="1903751" cy="5696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1B70DB-AF90-036D-13A1-43D11E53A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93" y="664819"/>
            <a:ext cx="13968214" cy="689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10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B20B1C7-A256-CF68-FC69-C23F3393C332}"/>
              </a:ext>
            </a:extLst>
          </p:cNvPr>
          <p:cNvSpPr/>
          <p:nvPr/>
        </p:nvSpPr>
        <p:spPr>
          <a:xfrm>
            <a:off x="12726649" y="7659974"/>
            <a:ext cx="1903751" cy="5696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54B29E-F824-946A-6E37-D24920DCD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9978"/>
            <a:ext cx="14557121" cy="661480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F026586-6055-6B7E-A99E-3F681331B5AB}"/>
              </a:ext>
            </a:extLst>
          </p:cNvPr>
          <p:cNvSpPr/>
          <p:nvPr/>
        </p:nvSpPr>
        <p:spPr>
          <a:xfrm>
            <a:off x="1192978" y="621199"/>
            <a:ext cx="121711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 Series #1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3948030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3D236-05F0-D355-F219-DB69814E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C21FC1-F348-436A-5C75-97DCFE1D40C2}"/>
              </a:ext>
            </a:extLst>
          </p:cNvPr>
          <p:cNvSpPr/>
          <p:nvPr/>
        </p:nvSpPr>
        <p:spPr>
          <a:xfrm>
            <a:off x="793790" y="1581864"/>
            <a:ext cx="1894999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7B4244-22E6-7759-1480-00F3441D2CEA}"/>
              </a:ext>
            </a:extLst>
          </p:cNvPr>
          <p:cNvSpPr/>
          <p:nvPr/>
        </p:nvSpPr>
        <p:spPr>
          <a:xfrm>
            <a:off x="929878" y="1649849"/>
            <a:ext cx="16228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GOALS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F09EA2E-61EE-F5D7-650D-B253DDE823E3}"/>
              </a:ext>
            </a:extLst>
          </p:cNvPr>
          <p:cNvSpPr/>
          <p:nvPr/>
        </p:nvSpPr>
        <p:spPr>
          <a:xfrm>
            <a:off x="793790" y="2098834"/>
            <a:ext cx="127102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What’s Next?</a:t>
            </a:r>
            <a:endParaRPr lang="en-US" sz="44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3432090-8073-CE3C-A9E7-AB6421A703C5}"/>
              </a:ext>
            </a:extLst>
          </p:cNvPr>
          <p:cNvSpPr/>
          <p:nvPr/>
        </p:nvSpPr>
        <p:spPr>
          <a:xfrm>
            <a:off x="793790" y="3147774"/>
            <a:ext cx="4196358" cy="349996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ABA796-7D81-2ACA-7628-24DA22608A90}"/>
              </a:ext>
            </a:extLst>
          </p:cNvPr>
          <p:cNvSpPr/>
          <p:nvPr/>
        </p:nvSpPr>
        <p:spPr>
          <a:xfrm>
            <a:off x="824270" y="3178254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D97F0A2-60E1-39D1-63CF-71226CFE5EB1}"/>
              </a:ext>
            </a:extLst>
          </p:cNvPr>
          <p:cNvSpPr/>
          <p:nvPr/>
        </p:nvSpPr>
        <p:spPr>
          <a:xfrm>
            <a:off x="2721888" y="330196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908B01-C2AA-0B21-C785-E768C2A13E3C}"/>
              </a:ext>
            </a:extLst>
          </p:cNvPr>
          <p:cNvSpPr/>
          <p:nvPr/>
        </p:nvSpPr>
        <p:spPr>
          <a:xfrm>
            <a:off x="1051084" y="4085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Statistical Modeling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A790C6-BCC7-F1C4-9BFD-612999F4528B}"/>
              </a:ext>
            </a:extLst>
          </p:cNvPr>
          <p:cNvSpPr/>
          <p:nvPr/>
        </p:nvSpPr>
        <p:spPr>
          <a:xfrm>
            <a:off x="1051084" y="4575929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</a:rPr>
              <a:t>Chi-squared on force type vs subject race, Kruskal-Wallis on number of officers involved vs subject race </a:t>
            </a:r>
            <a:endParaRPr lang="en-US" sz="17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54BAC3A-0575-2964-2950-E767C8C25D49}"/>
              </a:ext>
            </a:extLst>
          </p:cNvPr>
          <p:cNvSpPr/>
          <p:nvPr/>
        </p:nvSpPr>
        <p:spPr>
          <a:xfrm>
            <a:off x="10156663" y="3147774"/>
            <a:ext cx="4196358" cy="349996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006C554-6FB6-ED5A-B7C7-5193F636C68C}"/>
              </a:ext>
            </a:extLst>
          </p:cNvPr>
          <p:cNvSpPr/>
          <p:nvPr/>
        </p:nvSpPr>
        <p:spPr>
          <a:xfrm>
            <a:off x="10413957" y="4085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Beyond Race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0EB65F5-CCCF-7121-3C25-6AA6AE1A47D5}"/>
              </a:ext>
            </a:extLst>
          </p:cNvPr>
          <p:cNvSpPr/>
          <p:nvPr/>
        </p:nvSpPr>
        <p:spPr>
          <a:xfrm>
            <a:off x="10413957" y="45759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Multinomial logistic regression for factors outside of race that affect use of force outcomes</a:t>
            </a:r>
            <a:endParaRPr lang="en-US" sz="17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30F25B0-5B9B-8D13-E9F9-6C0A6CD4A8E8}"/>
              </a:ext>
            </a:extLst>
          </p:cNvPr>
          <p:cNvSpPr/>
          <p:nvPr/>
        </p:nvSpPr>
        <p:spPr>
          <a:xfrm>
            <a:off x="5475226" y="3147773"/>
            <a:ext cx="4196358" cy="3499961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19F35D84-60D9-44F9-E980-D0C93849A916}"/>
              </a:ext>
            </a:extLst>
          </p:cNvPr>
          <p:cNvSpPr/>
          <p:nvPr/>
        </p:nvSpPr>
        <p:spPr>
          <a:xfrm>
            <a:off x="5512516" y="3165873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05F3FCD-C73D-B93F-97A7-7DB4B2B93FE4}"/>
              </a:ext>
            </a:extLst>
          </p:cNvPr>
          <p:cNvSpPr/>
          <p:nvPr/>
        </p:nvSpPr>
        <p:spPr>
          <a:xfrm>
            <a:off x="7560436" y="330196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2</a:t>
            </a:r>
            <a:endParaRPr lang="en-US" sz="26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4A3469E-2F84-A613-431C-F19BD467F382}"/>
              </a:ext>
            </a:extLst>
          </p:cNvPr>
          <p:cNvSpPr/>
          <p:nvPr/>
        </p:nvSpPr>
        <p:spPr>
          <a:xfrm>
            <a:off x="5661271" y="40515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Mapping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752273B-32F9-FBFF-0C29-0276C85C060C}"/>
              </a:ext>
            </a:extLst>
          </p:cNvPr>
          <p:cNvSpPr/>
          <p:nvPr/>
        </p:nvSpPr>
        <p:spPr>
          <a:xfrm>
            <a:off x="5661271" y="4611053"/>
            <a:ext cx="3681770" cy="157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is finally in place, now ready to map out concentrations of incidents in granular detail</a:t>
            </a:r>
            <a:endParaRPr lang="en-US" sz="175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DA13979-2F07-2770-5859-16D1E48BB026}"/>
              </a:ext>
            </a:extLst>
          </p:cNvPr>
          <p:cNvSpPr/>
          <p:nvPr/>
        </p:nvSpPr>
        <p:spPr>
          <a:xfrm>
            <a:off x="12726649" y="7659974"/>
            <a:ext cx="1903751" cy="5696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8889A8CD-85B8-CC90-2EA6-0A12390DC6F3}"/>
              </a:ext>
            </a:extLst>
          </p:cNvPr>
          <p:cNvSpPr/>
          <p:nvPr/>
        </p:nvSpPr>
        <p:spPr>
          <a:xfrm>
            <a:off x="10187143" y="3181410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13F5727-AA9E-489E-26F7-0395E4D92614}"/>
              </a:ext>
            </a:extLst>
          </p:cNvPr>
          <p:cNvSpPr/>
          <p:nvPr/>
        </p:nvSpPr>
        <p:spPr>
          <a:xfrm>
            <a:off x="12084761" y="330196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3</a:t>
            </a:r>
            <a:endParaRPr lang="en-US" sz="2650" dirty="0"/>
          </a:p>
        </p:txBody>
      </p:sp>
    </p:spTree>
    <p:extLst>
      <p:ext uri="{BB962C8B-B14F-4D97-AF65-F5344CB8AC3E}">
        <p14:creationId xmlns:p14="http://schemas.microsoft.com/office/powerpoint/2010/main" val="1654166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247</Words>
  <Application>Microsoft Macintosh PowerPoint</Application>
  <PresentationFormat>Custom</PresentationFormat>
  <Paragraphs>38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Desir, Michael R</cp:lastModifiedBy>
  <cp:revision>4</cp:revision>
  <dcterms:created xsi:type="dcterms:W3CDTF">2026-03-25T16:55:59Z</dcterms:created>
  <dcterms:modified xsi:type="dcterms:W3CDTF">2026-04-15T18:05:21Z</dcterms:modified>
</cp:coreProperties>
</file>